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D8656-ABAC-6C7C-B29B-54F4BD3A1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88816-F066-E1B5-C6D1-E98EA9FE29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1801B-E525-8CEE-9E31-8EFD85F32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B323-0DE1-498B-BBBE-34AE426A14F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1A3C0-B116-860E-DBF4-D08951720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B851C-A044-8001-55DE-A81836CFF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86FC-AFA6-47E4-8655-0A46BCF4CC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576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B2BD0-A0A6-2C5A-3CB6-6F50BF49C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83889-A30A-BA2B-DA46-E860AB012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39388-555F-1186-7BBF-1F5008287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B323-0DE1-498B-BBBE-34AE426A14F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565DA-F3E0-BA51-449A-721102315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53292-1698-A681-C800-CE0A6CA09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86FC-AFA6-47E4-8655-0A46BCF4CC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851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86BEE-6F13-C3C9-72A5-BBCBD4329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676EC-F954-9A51-202A-9DA2FDE1A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3B760-B71F-5683-BAF4-3EAFF804E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B323-0DE1-498B-BBBE-34AE426A14F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CF26D-5E1E-54F0-DEB6-3D0196F16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CDB2A-CC9C-03DF-AC90-870CE41D4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86FC-AFA6-47E4-8655-0A46BCF4CC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591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43052-FFBF-9499-2BD1-8B05EF9AC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B6B72-430C-62C2-4BBE-A888416591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BF5B1-BBE4-3B18-C873-F61E6D185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B124D-BDDB-F6DE-4302-158BEC439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B323-0DE1-498B-BBBE-34AE426A14F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77821-D01B-0082-D85E-C93A53C7B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F2358-79E7-4B52-84A9-8C8245082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86FC-AFA6-47E4-8655-0A46BCF4CC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892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C1CD0-3246-FFC4-F772-0A4E2DFBD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F014D-8114-6615-4418-46578C115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E4999-2BB8-CC28-E1C3-AE25E7583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7E563-935E-0F22-1372-1B02366566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B5D184-E19B-A0BA-DE21-0732C469CF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B04593-BF33-227F-127F-4D1D49866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B323-0DE1-498B-BBBE-34AE426A14F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9387BF-2850-6776-B8E0-013A495CF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B91C57-1D50-D8CD-A9CC-0C5FB57F5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86FC-AFA6-47E4-8655-0A46BCF4CC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890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76CFF-D658-F552-8066-AA3747252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334BC-1D96-5618-F5F7-B0DE3C258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B323-0DE1-498B-BBBE-34AE426A14F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214B0E-4E7C-75E6-317E-2AC76B5AB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2A2A6D-0233-26C2-E014-1B62AA13B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86FC-AFA6-47E4-8655-0A46BCF4CC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901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8A5DB6-8492-DEE3-7221-0B743BD4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B323-0DE1-498B-BBBE-34AE426A14F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80D473-18DC-D6A5-DFF1-EFBE18976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CF000-29D8-F546-DC6E-E6485F682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86FC-AFA6-47E4-8655-0A46BCF4CC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38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29F00-1494-D05D-BF9A-43F9A229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A95B2-FFF1-35FB-B7EB-4F65A1A35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BDF69-519C-E84C-97E6-A97734CB7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30A92-E68D-AD8A-B204-A59406D97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B323-0DE1-498B-BBBE-34AE426A14F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D954B-1754-D057-AE8E-ECF27E266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2398-C2A0-F892-014F-41320BA0E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86FC-AFA6-47E4-8655-0A46BCF4CC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69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39598-AAF6-3600-1880-67BA501FA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41C0B-97D8-4702-F9AC-D120CB3B6B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4C68D-DE24-C985-664F-326E57660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3FBA0E-BF2A-8CAD-04CC-24911ECAD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B323-0DE1-498B-BBBE-34AE426A14F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CDE7D-13ED-3D3A-A58E-FD1671635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DB561-F1EE-C4AF-33A4-88F49324D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86FC-AFA6-47E4-8655-0A46BCF4CC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29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A1E4A-C7CA-C9E8-D71F-E7762BA58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0E7BA4-CB1C-CDDD-5551-2504DEC7B4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14909-46BC-B59B-B115-C57FD9A47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B323-0DE1-498B-BBBE-34AE426A14F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57086-CDCA-0BDF-C6CE-9109E2C70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69E3F-9B47-DA04-ED36-989128060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86FC-AFA6-47E4-8655-0A46BCF4CC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15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AA2078-89AF-1346-FB4B-0279D4C81E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5A30B2-90A1-AD4F-1D79-BEBB65095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A3D8F-FB4F-5E78-9F66-EDDEE35B3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B323-0DE1-498B-BBBE-34AE426A14F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38432-9B0D-FC5E-DF6B-E3A552327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0A15C-0E26-61D4-93A6-8A619C393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186FC-AFA6-47E4-8655-0A46BCF4CC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752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19674D-C474-6636-6283-A3A387531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C80FDE-8EB5-F141-AA1D-CA6999983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9286C-173F-236B-1354-70F4F8EAD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9B323-0DE1-498B-BBBE-34AE426A14F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FD0BB-2CA9-2073-C71F-DE15A77D1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F233A-9972-8AD1-4B42-FEF4C7058F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186FC-AFA6-47E4-8655-0A46BCF4CC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263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8B3B0A-D291-4B7B-AB48-0197BCAFFEFD}"/>
              </a:ext>
            </a:extLst>
          </p:cNvPr>
          <p:cNvSpPr txBox="1"/>
          <p:nvPr/>
        </p:nvSpPr>
        <p:spPr>
          <a:xfrm>
            <a:off x="13219" y="2318455"/>
            <a:ext cx="12192000" cy="1323439"/>
          </a:xfrm>
          <a:prstGeom prst="rect">
            <a:avLst/>
          </a:prstGeo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&lt;&lt;</a:t>
            </a:r>
            <a:r>
              <a:rPr lang="en-US" sz="4000" dirty="0">
                <a:solidFill>
                  <a:schemeClr val="bg1"/>
                </a:solidFill>
              </a:rPr>
              <a:t>Social Sector-Wise Aggregated Expenditure Analysis (2016–2022)</a:t>
            </a:r>
            <a:r>
              <a:rPr lang="en-US" altLang="ko-KR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&gt;&gt;</a:t>
            </a:r>
            <a:endParaRPr lang="ko-KR" altLang="en-US" sz="4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B3B0A-D291-4B7B-AB48-0197BCAFFEFD}"/>
              </a:ext>
            </a:extLst>
          </p:cNvPr>
          <p:cNvSpPr txBox="1"/>
          <p:nvPr/>
        </p:nvSpPr>
        <p:spPr>
          <a:xfrm>
            <a:off x="2806089" y="5340912"/>
            <a:ext cx="657982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Symbiosis Institute of Technology, Nagpur Campus</a:t>
            </a:r>
            <a:endParaRPr lang="ko-KR" altLang="en-US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8B3B0A-D291-4B7B-AB48-0197BCAFFEFD}"/>
              </a:ext>
            </a:extLst>
          </p:cNvPr>
          <p:cNvSpPr txBox="1"/>
          <p:nvPr/>
        </p:nvSpPr>
        <p:spPr>
          <a:xfrm>
            <a:off x="1113198" y="1261848"/>
            <a:ext cx="985356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DS Presentation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8B3B0A-D291-4B7B-AB48-0197BCAFFEFD}"/>
              </a:ext>
            </a:extLst>
          </p:cNvPr>
          <p:cNvSpPr txBox="1"/>
          <p:nvPr/>
        </p:nvSpPr>
        <p:spPr>
          <a:xfrm>
            <a:off x="2914170" y="3991692"/>
            <a:ext cx="6390099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Bharti Ingle</a:t>
            </a:r>
          </a:p>
          <a:p>
            <a:pPr algn="ctr"/>
            <a:r>
              <a:rPr lang="en-US" altLang="ko-KR" sz="2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PRN No. : 22070521039</a:t>
            </a:r>
          </a:p>
          <a:p>
            <a:pPr algn="ctr"/>
            <a:r>
              <a:rPr lang="en-US" altLang="ko-KR" sz="2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Sem: 7</a:t>
            </a:r>
          </a:p>
          <a:p>
            <a:pPr algn="ctr"/>
            <a:r>
              <a:rPr lang="en-US" altLang="ko-KR" sz="2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Mentor : Piyush Chauhan</a:t>
            </a:r>
            <a:r>
              <a:rPr lang="en-IN" sz="2000" dirty="0"/>
              <a:t> </a:t>
            </a:r>
            <a:endParaRPr lang="en-US" altLang="ko-KR" sz="20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85" name="Group 84"/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F5B2E5E-F1FB-4B49-A15E-DFC13B08436B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565E93E9-4624-4300-9736-8AD2206DEEDC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C028FEAF-D49A-46B9-89E4-097BE7C65526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3D876396-B2E8-4260-95F0-7F807CEBB336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E54FF9D1-6089-4D74-8D8E-6D1177695082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C588BD84-AC78-42E3-8E80-878DF5182085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ED1FACAF-51FC-4BC7-B86A-37A0AE818A30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A1F696F5-C936-4257-ABAE-CFB663A4F5B9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2E7360DC-5C0F-466D-84A8-E0EE6E3AB0F1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08DE8446-7C37-470B-9371-440B4896B7BB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79F2E292-A6A3-445D-9144-E683946C0A17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E1355B59-DD0D-4CAB-945D-A12DD9E80FEC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791E57E2-15BD-41FF-A3AD-FEF3ACD07BAD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ACC6ABAB-5C29-44A4-B49A-A3C7C7F7BCBE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4A71DD83-8022-4143-A93D-17DDAFFAB864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01418661-1F77-4FAD-B4FD-28B2B041E7F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D05CCC8A-C19B-40FE-BEEF-912A84A1EF92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95FBCACE-24A6-48D1-B13B-8F9FE1203886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12CB76F8-C735-44B5-9A98-9F2B9379252C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555127DA-3EE1-42DE-BA8E-69E101C286EB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C2C10520-9F80-4BE2-B993-5B905B809DE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EDB92882-0CF1-413E-8743-7A1E01EF2B8A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0932F542-36CC-4138-A432-576700346F8C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3B6B041A-5F1A-40C1-9584-D5563AB6A193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3C697974-1EFD-497C-8F1B-DEAA82EB7A7C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C5C2CAB8-8604-4E04-9F23-99A720B6CD62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78959DD7-B4AB-4F69-BB5B-9840CF94E3CA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A7EB0FDD-9AD7-4386-8559-CE3745BCEC8C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EABA9570-C479-4F46-AD41-88F10E265791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696970B8-F5CB-412E-8251-9AF0578354D0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3D00D20E-2B63-4792-A233-43481FD84B2F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7873ECCA-6F31-4A69-856A-82645EA1C11F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2821AFFC-1334-4BF1-A96A-FBE5CE0E32B4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DFA386D3-FCFC-4630-B8F1-3144BCEA5BF3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53EF3BC0-98DA-4218-B9E8-F47FA1C11F36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67645674-65CD-4C60-AE13-2D7A5DFAF5C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91FC57F3-C93D-4A02-AA2A-37F81573623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65E93E9-4624-4300-9736-8AD2206DEEDC}"/>
              </a:ext>
            </a:extLst>
          </p:cNvPr>
          <p:cNvGrpSpPr/>
          <p:nvPr/>
        </p:nvGrpSpPr>
        <p:grpSpPr>
          <a:xfrm>
            <a:off x="450920" y="6490548"/>
            <a:ext cx="4247655" cy="273466"/>
            <a:chOff x="4366684" y="2926127"/>
            <a:chExt cx="3278335" cy="2571063"/>
          </a:xfrm>
        </p:grpSpPr>
        <p:sp>
          <p:nvSpPr>
            <p:cNvPr id="196" name="Freeform: Shape 4">
              <a:extLst>
                <a:ext uri="{FF2B5EF4-FFF2-40B4-BE49-F238E27FC236}">
                  <a16:creationId xmlns:a16="http://schemas.microsoft.com/office/drawing/2014/main" id="{C028FEAF-D49A-46B9-89E4-097BE7C65526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7" name="Freeform: Shape 5">
              <a:extLst>
                <a:ext uri="{FF2B5EF4-FFF2-40B4-BE49-F238E27FC236}">
                  <a16:creationId xmlns:a16="http://schemas.microsoft.com/office/drawing/2014/main" id="{3D876396-B2E8-4260-95F0-7F807CEBB336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8" name="Freeform: Shape 6">
              <a:extLst>
                <a:ext uri="{FF2B5EF4-FFF2-40B4-BE49-F238E27FC236}">
                  <a16:creationId xmlns:a16="http://schemas.microsoft.com/office/drawing/2014/main" id="{E54FF9D1-6089-4D74-8D8E-6D1177695082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9" name="Freeform: Shape 7">
              <a:extLst>
                <a:ext uri="{FF2B5EF4-FFF2-40B4-BE49-F238E27FC236}">
                  <a16:creationId xmlns:a16="http://schemas.microsoft.com/office/drawing/2014/main" id="{C588BD84-AC78-42E3-8E80-878DF5182085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0" name="Freeform: Shape 8">
              <a:extLst>
                <a:ext uri="{FF2B5EF4-FFF2-40B4-BE49-F238E27FC236}">
                  <a16:creationId xmlns:a16="http://schemas.microsoft.com/office/drawing/2014/main" id="{ED1FACAF-51FC-4BC7-B86A-37A0AE818A30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1" name="Freeform: Shape 9">
              <a:extLst>
                <a:ext uri="{FF2B5EF4-FFF2-40B4-BE49-F238E27FC236}">
                  <a16:creationId xmlns:a16="http://schemas.microsoft.com/office/drawing/2014/main" id="{A1F696F5-C936-4257-ABAE-CFB663A4F5B9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2" name="Freeform: Shape 10">
              <a:extLst>
                <a:ext uri="{FF2B5EF4-FFF2-40B4-BE49-F238E27FC236}">
                  <a16:creationId xmlns:a16="http://schemas.microsoft.com/office/drawing/2014/main" id="{2E7360DC-5C0F-466D-84A8-E0EE6E3AB0F1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3" name="Freeform: Shape 11">
              <a:extLst>
                <a:ext uri="{FF2B5EF4-FFF2-40B4-BE49-F238E27FC236}">
                  <a16:creationId xmlns:a16="http://schemas.microsoft.com/office/drawing/2014/main" id="{08DE8446-7C37-470B-9371-440B4896B7BB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4" name="Freeform: Shape 12">
              <a:extLst>
                <a:ext uri="{FF2B5EF4-FFF2-40B4-BE49-F238E27FC236}">
                  <a16:creationId xmlns:a16="http://schemas.microsoft.com/office/drawing/2014/main" id="{79F2E292-A6A3-445D-9144-E683946C0A17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5" name="Freeform: Shape 13">
              <a:extLst>
                <a:ext uri="{FF2B5EF4-FFF2-40B4-BE49-F238E27FC236}">
                  <a16:creationId xmlns:a16="http://schemas.microsoft.com/office/drawing/2014/main" id="{E1355B59-DD0D-4CAB-945D-A12DD9E80FEC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6" name="Freeform: Shape 14">
              <a:extLst>
                <a:ext uri="{FF2B5EF4-FFF2-40B4-BE49-F238E27FC236}">
                  <a16:creationId xmlns:a16="http://schemas.microsoft.com/office/drawing/2014/main" id="{791E57E2-15BD-41FF-A3AD-FEF3ACD07BAD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7" name="Freeform: Shape 15">
              <a:extLst>
                <a:ext uri="{FF2B5EF4-FFF2-40B4-BE49-F238E27FC236}">
                  <a16:creationId xmlns:a16="http://schemas.microsoft.com/office/drawing/2014/main" id="{ACC6ABAB-5C29-44A4-B49A-A3C7C7F7BCBE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8" name="Freeform: Shape 16">
              <a:extLst>
                <a:ext uri="{FF2B5EF4-FFF2-40B4-BE49-F238E27FC236}">
                  <a16:creationId xmlns:a16="http://schemas.microsoft.com/office/drawing/2014/main" id="{4A71DD83-8022-4143-A93D-17DDAFFAB864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9" name="Freeform: Shape 17">
              <a:extLst>
                <a:ext uri="{FF2B5EF4-FFF2-40B4-BE49-F238E27FC236}">
                  <a16:creationId xmlns:a16="http://schemas.microsoft.com/office/drawing/2014/main" id="{01418661-1F77-4FAD-B4FD-28B2B041E7F8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0" name="Freeform: Shape 18">
              <a:extLst>
                <a:ext uri="{FF2B5EF4-FFF2-40B4-BE49-F238E27FC236}">
                  <a16:creationId xmlns:a16="http://schemas.microsoft.com/office/drawing/2014/main" id="{D05CCC8A-C19B-40FE-BEEF-912A84A1EF92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1" name="Freeform: Shape 19">
              <a:extLst>
                <a:ext uri="{FF2B5EF4-FFF2-40B4-BE49-F238E27FC236}">
                  <a16:creationId xmlns:a16="http://schemas.microsoft.com/office/drawing/2014/main" id="{95FBCACE-24A6-48D1-B13B-8F9FE120388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2" name="Freeform: Shape 20">
              <a:extLst>
                <a:ext uri="{FF2B5EF4-FFF2-40B4-BE49-F238E27FC236}">
                  <a16:creationId xmlns:a16="http://schemas.microsoft.com/office/drawing/2014/main" id="{12CB76F8-C735-44B5-9A98-9F2B9379252C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3" name="Freeform: Shape 21">
              <a:extLst>
                <a:ext uri="{FF2B5EF4-FFF2-40B4-BE49-F238E27FC236}">
                  <a16:creationId xmlns:a16="http://schemas.microsoft.com/office/drawing/2014/main" id="{555127DA-3EE1-42DE-BA8E-69E101C286EB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4" name="Freeform: Shape 22">
              <a:extLst>
                <a:ext uri="{FF2B5EF4-FFF2-40B4-BE49-F238E27FC236}">
                  <a16:creationId xmlns:a16="http://schemas.microsoft.com/office/drawing/2014/main" id="{C2C10520-9F80-4BE2-B993-5B905B809DE6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5" name="Freeform: Shape 23">
              <a:extLst>
                <a:ext uri="{FF2B5EF4-FFF2-40B4-BE49-F238E27FC236}">
                  <a16:creationId xmlns:a16="http://schemas.microsoft.com/office/drawing/2014/main" id="{EDB92882-0CF1-413E-8743-7A1E01EF2B8A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6" name="Freeform: Shape 24">
              <a:extLst>
                <a:ext uri="{FF2B5EF4-FFF2-40B4-BE49-F238E27FC236}">
                  <a16:creationId xmlns:a16="http://schemas.microsoft.com/office/drawing/2014/main" id="{0932F542-36CC-4138-A432-576700346F8C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7" name="Freeform: Shape 25">
              <a:extLst>
                <a:ext uri="{FF2B5EF4-FFF2-40B4-BE49-F238E27FC236}">
                  <a16:creationId xmlns:a16="http://schemas.microsoft.com/office/drawing/2014/main" id="{3B6B041A-5F1A-40C1-9584-D5563AB6A193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8" name="Freeform: Shape 26">
              <a:extLst>
                <a:ext uri="{FF2B5EF4-FFF2-40B4-BE49-F238E27FC236}">
                  <a16:creationId xmlns:a16="http://schemas.microsoft.com/office/drawing/2014/main" id="{3C697974-1EFD-497C-8F1B-DEAA82EB7A7C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9" name="Freeform: Shape 27">
              <a:extLst>
                <a:ext uri="{FF2B5EF4-FFF2-40B4-BE49-F238E27FC236}">
                  <a16:creationId xmlns:a16="http://schemas.microsoft.com/office/drawing/2014/main" id="{C5C2CAB8-8604-4E04-9F23-99A720B6CD62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0" name="Freeform: Shape 28">
              <a:extLst>
                <a:ext uri="{FF2B5EF4-FFF2-40B4-BE49-F238E27FC236}">
                  <a16:creationId xmlns:a16="http://schemas.microsoft.com/office/drawing/2014/main" id="{78959DD7-B4AB-4F69-BB5B-9840CF94E3CA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1" name="Freeform: Shape 29">
              <a:extLst>
                <a:ext uri="{FF2B5EF4-FFF2-40B4-BE49-F238E27FC236}">
                  <a16:creationId xmlns:a16="http://schemas.microsoft.com/office/drawing/2014/main" id="{A7EB0FDD-9AD7-4386-8559-CE3745BCEC8C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2" name="Freeform: Shape 30">
              <a:extLst>
                <a:ext uri="{FF2B5EF4-FFF2-40B4-BE49-F238E27FC236}">
                  <a16:creationId xmlns:a16="http://schemas.microsoft.com/office/drawing/2014/main" id="{EABA9570-C479-4F46-AD41-88F10E265791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3" name="Freeform: Shape 31">
              <a:extLst>
                <a:ext uri="{FF2B5EF4-FFF2-40B4-BE49-F238E27FC236}">
                  <a16:creationId xmlns:a16="http://schemas.microsoft.com/office/drawing/2014/main" id="{696970B8-F5CB-412E-8251-9AF0578354D0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4" name="Freeform: Shape 32">
              <a:extLst>
                <a:ext uri="{FF2B5EF4-FFF2-40B4-BE49-F238E27FC236}">
                  <a16:creationId xmlns:a16="http://schemas.microsoft.com/office/drawing/2014/main" id="{3D00D20E-2B63-4792-A233-43481FD84B2F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5" name="Freeform: Shape 33">
              <a:extLst>
                <a:ext uri="{FF2B5EF4-FFF2-40B4-BE49-F238E27FC236}">
                  <a16:creationId xmlns:a16="http://schemas.microsoft.com/office/drawing/2014/main" id="{7873ECCA-6F31-4A69-856A-82645EA1C11F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6" name="Freeform: Shape 34">
              <a:extLst>
                <a:ext uri="{FF2B5EF4-FFF2-40B4-BE49-F238E27FC236}">
                  <a16:creationId xmlns:a16="http://schemas.microsoft.com/office/drawing/2014/main" id="{2821AFFC-1334-4BF1-A96A-FBE5CE0E32B4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7" name="Freeform: Shape 35">
              <a:extLst>
                <a:ext uri="{FF2B5EF4-FFF2-40B4-BE49-F238E27FC236}">
                  <a16:creationId xmlns:a16="http://schemas.microsoft.com/office/drawing/2014/main" id="{DFA386D3-FCFC-4630-B8F1-3144BCEA5BF3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8" name="Freeform: Shape 36">
              <a:extLst>
                <a:ext uri="{FF2B5EF4-FFF2-40B4-BE49-F238E27FC236}">
                  <a16:creationId xmlns:a16="http://schemas.microsoft.com/office/drawing/2014/main" id="{53EF3BC0-98DA-4218-B9E8-F47FA1C11F36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9" name="Freeform: Shape 37">
              <a:extLst>
                <a:ext uri="{FF2B5EF4-FFF2-40B4-BE49-F238E27FC236}">
                  <a16:creationId xmlns:a16="http://schemas.microsoft.com/office/drawing/2014/main" id="{67645674-65CD-4C60-AE13-2D7A5DFAF5C1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0" name="Freeform: Shape 38">
              <a:extLst>
                <a:ext uri="{FF2B5EF4-FFF2-40B4-BE49-F238E27FC236}">
                  <a16:creationId xmlns:a16="http://schemas.microsoft.com/office/drawing/2014/main" id="{91FC57F3-C93D-4A02-AA2A-37F815736233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21" y="190223"/>
            <a:ext cx="6879350" cy="999746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4815395" y="6382131"/>
            <a:ext cx="7369479" cy="465286"/>
            <a:chOff x="4817758" y="6382984"/>
            <a:chExt cx="7369479" cy="465286"/>
          </a:xfrm>
        </p:grpSpPr>
        <p:sp>
          <p:nvSpPr>
            <p:cNvPr id="3" name="Rectangle 2"/>
            <p:cNvSpPr/>
            <p:nvPr/>
          </p:nvSpPr>
          <p:spPr>
            <a:xfrm>
              <a:off x="4817758" y="6382984"/>
              <a:ext cx="7369479" cy="4652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73655" y="6397831"/>
              <a:ext cx="7281503" cy="41746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476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C9C28-A628-A2CE-E220-C70BA4D62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A517A607-2E8F-4A34-AAA6-1340142122A1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2BB2E76-FE7E-C6E6-018B-8DFDE535CFAA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18C67D57-B658-F48B-D79E-2789280CB7A9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C08EF597-BC32-63F2-6AB0-4DAA4547B749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9041CCCD-01A9-A1B3-ED3A-D0AB2CF7BAEA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45D57E5F-DD2E-25A1-6A3E-9261B26B0380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7C59FB7E-E90D-C57B-25DA-FB87ADED63C4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624C81EE-0BF0-596C-72A7-BD946AF3D142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37839B99-5B71-BFB3-A906-5C813E98920C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A078A46D-6F86-B8E9-EF21-D692A8E6DCD8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9FBEDC72-C2C5-CD7A-CC5F-2F84525D845D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B7F85E68-A3D3-9533-E9EB-EE178ADCF307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B4B92204-03B7-B0D4-6BEE-D2E04962BE81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EA444216-4B53-691E-AFB3-6FB061837196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D69F76BA-02F8-2C6C-BDA6-325EBDC0780D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FDBBB2E0-7E17-2AE0-89E2-A4DAFAF34032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C3711B61-63FA-152F-1620-E76809380F50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46FBAA51-5FCF-E800-BF87-B30B852074A7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2AAB3C9A-435A-AC35-B7B5-1B464011EF9D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00E759A4-A9B2-84B2-E1CC-F1788A43D2ED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ABC33C73-DB7E-2206-2B8C-244D5B454DDC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13E81D04-B446-8E4E-7B87-E5785C348173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52DDCEC5-A491-63DB-0A0A-94C69CBE10C2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CB3C42B5-8174-00AF-8C89-90D6FEACF293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1D0E6381-56A0-F167-B333-6388FD3BAA6D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404A78CE-8F0A-FFA7-5E50-4EF3C4095306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89B58F78-D2AA-F7A4-519E-2F2E50E1AB8E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5C6314F3-6AF9-07B5-62B3-C64E312657DB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A95BEB7F-9752-368A-1C96-C97756131D58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CE4721ED-0293-586C-123D-48307AC20A3A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27BB0BD9-C6C6-1665-7AA6-3E6886BF42BF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F34141BB-22DC-595C-2BEE-B66E9B6C74FB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E92AF517-B4FD-41B9-06BF-E85B0A5E7844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3E2F49CC-6637-D464-F3A4-4E7C539698D1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9CD83BEE-6698-B595-9F77-E81115866E75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A04BF4B9-6BB2-4E2C-CFAD-9D00164B86FE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69554745-B437-5853-8D66-99A85CD9EE7C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B585FA7D-E177-6A17-1B54-4C29F3A8E449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03ED8E0C-3B76-4DEF-E10C-571908264B82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B5960ABE-4015-26BB-7953-C60332AEFF2B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D3B361E5-9D24-0B8C-95E8-428F49530B52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6FF810BC-DA41-993A-8E98-F902D2DBCAF9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CFF48385-CA1C-1DFC-88E2-543F1D4FAB92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B4C36F51-CD42-FD53-FBEA-EC32265C2AB9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DC5A6B3F-F97A-A790-D0BA-A615D09E9FD1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D946D1B3-4662-BE01-9248-22DBB04CE928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66E02D71-8A47-16A7-8CA0-13844D69E4BC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842D9FCE-DFBC-8100-615C-0D8A6A86EF97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405F7369-A91C-2CBC-8C1A-C31901CBF2D1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F87D4A5F-EC9C-AF82-D9AD-648CFC5CBA66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EFA57834-53C8-3FB0-0183-28DAE282FF2F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76002EF6-C583-3B11-3C76-EA278097DA09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FDC42390-C424-8026-E491-37A360272B1D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A4AD65DF-C70B-3BFD-53B1-DA9A8E29B97E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8B552BEC-A2D5-6331-78D3-3FA8897CFA12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5D7B5685-BE5E-C624-FBC7-1FA2DB4942CB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89D0CF58-109D-C307-5F48-5553F0503545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3E9A7557-137E-D291-1E53-62E57BA18671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FCD6DE48-B282-70AE-DA70-DC204C5FD12B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CEC34CD0-7FB3-617C-5F60-E9046752119D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1B072AE0-41CF-E05D-3B52-422A69F46168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D21D6BB5-849E-FE2A-4635-5C0C3031A085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3ABF80D1-98F8-B1C3-DD21-5D99C5BC7AFF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2555C40C-A023-4F26-2DAC-7BC75366BCEA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3A78CFDA-1A46-60DC-B416-B3F989ACC712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8F83997A-A9DB-66BE-291F-4CBAABEC2EBF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1E606380-EF02-09A8-2979-DCE3F68912EB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D14FDD0F-B0C7-212E-47C0-209259A165BC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DD999DE7-B7F0-9EA2-C63A-AC0A3D87685F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9B51DABD-AEA7-335B-3C0A-8A9BC0BD9FDD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96ED48FE-A910-37F9-14D7-686FF5694F1E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19C8F520-33C2-3D70-46F7-7AC525F1D9CE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620BB6E7-7BCA-C91E-CA02-F672D86D62D3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BE9402E1-9CEF-1F3F-7764-A69DADB59D7F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158B576-D05F-3C38-2033-B83175E68936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Problem Statement:  </a:t>
            </a:r>
            <a:endParaRPr lang="en-IN" sz="36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9722C4-C862-8846-D0C9-72BFC3500B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2E79F4-6C3E-6D82-5E87-35FB08248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9F21E2-B47E-5AF2-92E8-FFC2CC836C0E}"/>
              </a:ext>
            </a:extLst>
          </p:cNvPr>
          <p:cNvSpPr txBox="1"/>
          <p:nvPr/>
        </p:nvSpPr>
        <p:spPr>
          <a:xfrm>
            <a:off x="184630" y="1112784"/>
            <a:ext cx="111171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historical expenditure data (2016–2021) from various Indian states across social sectors be effectively analyzed to understand expenditure distribution and trends, assisting in data-driven policy and budget allocation?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597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B82F0-F280-AFC0-14B3-939A7E93C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328B1C34-C27D-DA52-B107-D5A319164F1B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BA7D2C5D-1B41-B6CB-8065-F47084C8DEBE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825CB327-6018-B037-B1F9-6019DC121F21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DCE6A0A3-6494-97D3-82E8-585F70258CFB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A68C448C-4C14-148A-F272-C3597EDA792D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68A060E0-73C8-3E2C-B58D-CA0B587B64C7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6F1CBD40-2D5E-17F3-1731-979D3A9077A6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85488C1B-DC47-EDE6-AAB4-2DFF8BE366E2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E2B54E6E-96C0-6449-62BC-9C1C9A949CA2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B4D19C58-6C74-95DD-32D2-1D627D223883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6FFB5200-782C-974F-1369-C10AFEF376B0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B4F13A64-D8CB-924D-314D-59F2F0760C4B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2865A4C5-246F-65A6-CEAF-B64925749C48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C077B4B0-DE7B-820B-8093-63FFFF93C592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7719D37A-2C15-2DE6-E139-F213464651D3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43CF8C05-D89D-C861-5984-2A330AB7DE98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8C93E959-6B81-AA87-0069-353C2170DBBC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D3C03BA2-9FC5-1156-FE23-303BA0BBFAE8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E7A897F2-15E0-9828-EAE3-16326444ED19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CEEF6FCF-FAA1-5DD8-1F86-929884F3EA7F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9EC80F9A-7CAE-1329-CB2D-11A1E405B7FE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43958892-7930-9127-86C6-F4C85CA3F06E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B62777C5-2A92-9AA8-E173-C98E6D66E859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9255A27E-7751-3CEE-D9B6-33D1E7F7885F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233BDFB3-027F-8418-2705-3116B11C8E23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3828257C-3923-8B4E-6E2D-A876C1822CAC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40DE52E7-B185-355E-761B-B1C7228D6F9D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38B2A939-2A73-8B1B-B59A-EA6BC341608C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91158DFE-124E-1059-7972-91F9494280F0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202795D9-3B27-0179-BD6C-07CD952F6ECD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81C2A81F-E3C3-9B06-E885-348539FF4B28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32AEDA1C-707B-82A3-72FA-21352F12DE28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3940A7C6-E1A1-1410-0988-1BABF8037F87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F5383DDF-6910-BDFA-66FB-1815B0C0EF18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9585E0E4-2D21-4DBC-7F42-F3FD4424950B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65F9373B-31AB-120F-463F-BBF52DDED220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8D27DA33-E2B0-C85C-0528-AF8167CAE0F2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F909086A-AFDC-8C4B-9E3A-953BF5E35A7A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89E3C538-0AEE-ADE1-2073-90AE365F1A95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06F354DE-86E4-CC06-BA2E-26A82C89B3BA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3B502D3B-A65B-7D98-BB5F-4E078BB051CB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F9CBFD20-AE94-701F-2EFB-8D92E54B6E08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9E1E3191-742F-2CF7-44D9-E08DD7774523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B3A26C94-2CFE-3E2A-98C1-FEFCD7F17D49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6E2CEFBC-84A7-B193-C3E2-C8A6AD7E5A9D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8B654E76-A13F-26B6-DB1F-499760AD3AE3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C538437F-6AE4-2C95-2CC4-5CE43DB0D275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D4E17439-A39D-61BC-0FA1-7AC8AEA9272E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D45A4BEC-68AC-0064-C73A-CAEC39E920EA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FAEAFA40-890D-A6C2-8DAC-10A7BB7D01A7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984B4B69-3ECF-41FB-B5BF-8FC021CE8DEE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A792990A-374E-E976-04F1-ADE237396497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E771F9DA-6D31-8C57-B67A-61FC6C8C2457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F0D49774-5D28-8DE9-D4D2-C0C2DECF61A4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A90FAA05-B5EB-8DA9-0290-14E705470F08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BE4B2122-109D-5F8B-3F51-F82BDF535E63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E786ED81-7759-A4F2-5E9D-2F69595F5405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B5AC414E-EB4F-BE28-6FD3-1CD9EDF1927A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E8D1E266-80E3-1308-4742-FA2A453D826B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34E94304-F391-7329-3E72-6F20DC3A93D2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5DB41795-8E7A-3641-9A3B-CA6E4AD5A15A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E6FA5C00-CEBD-7599-3FCA-AFD2B3395FEE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62044418-CC44-2B1A-EB45-13698E2CB8CB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2147323F-44CC-45A0-8C98-54E8233AE80C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3DD4EDE5-CF38-E8B9-418A-2B960B1A0CA4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E0CA9C1C-8E70-4CD9-2F6B-918B9A541DFF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7239118A-94D4-19C3-565E-AC19321457DD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1927F31F-B41B-6879-9241-483940F071C1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B25659ED-572E-B7A1-1306-313467E31CFE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5C141CF9-0F60-8CD1-6FBD-A78209599FC1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C0700A94-E322-39E6-5242-92354A6313A4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6D247CF6-C03C-2F81-29E4-9CD667355E93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E1CEF396-8C48-A084-035F-D408E28A05DF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593D638D-D177-1F44-D1D1-ED4268B347AC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0D8B531-67D7-7862-2AE2-922345E7F14F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213163"/>
                </a:solidFill>
              </a:rPr>
              <a:t>                                                Objective:</a:t>
            </a:r>
            <a:endParaRPr lang="en-IN" sz="3600" b="1" dirty="0">
              <a:solidFill>
                <a:srgbClr val="21316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5E7254-F841-8794-73A6-65659CD0FD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66D5E2-64E0-9B80-9E4F-B1538D4C5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/>
              <a:t>3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4D2277-A4A1-F53D-9DE2-410AE7179EA7}"/>
              </a:ext>
            </a:extLst>
          </p:cNvPr>
          <p:cNvSpPr txBox="1"/>
          <p:nvPr/>
        </p:nvSpPr>
        <p:spPr>
          <a:xfrm>
            <a:off x="184630" y="1112784"/>
            <a:ext cx="11117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state-wise social sector expenditures from 2016–2022 to identify major spending trends, relationships between key sectors, and generate predictive insights that support better policy decisions and future budget planning.</a:t>
            </a:r>
          </a:p>
        </p:txBody>
      </p:sp>
    </p:spTree>
    <p:extLst>
      <p:ext uri="{BB962C8B-B14F-4D97-AF65-F5344CB8AC3E}">
        <p14:creationId xmlns:p14="http://schemas.microsoft.com/office/powerpoint/2010/main" val="1943693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CBD61-564C-AF4D-9D88-B097F9FAF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5F2EF01D-70D4-F847-A4A2-4A228D18908C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4DC263B-7E3C-CC98-0C62-00EA57D34F6A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3279E48F-33C1-E1DD-2AFE-09DAA94110B3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D4176017-FEC4-55DE-57A2-FE3E2E9CDE3D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CA9FF073-9A1B-6CEC-3507-BD81329F272D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58A325D6-D52A-857C-901D-700DFB38B4C6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7D855B06-CB74-D50F-7456-2DE72DC0434A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5C9BD43C-16CB-CFBC-A841-B0450935955A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1D99A7E7-6538-9719-DCDA-2F1769374B69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2A278C45-0217-DCD9-7284-183631573665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563A45B1-5DC1-126D-9393-879C61412803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907CAE14-52EC-F205-03FA-173EBD45FD0F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3E3FE9E5-0B09-A08A-DFDB-E9CBB9854638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EE076C18-5F2B-117F-582D-BB6300997D1E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48EEB314-5D08-6106-1FE3-AC7F618EBC32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3C442539-22BE-A831-33CD-3FAD85DACAC7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1E2A70FA-0BDE-D0E2-0A4D-AD8F36122CE7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70CECD6C-445E-24D2-7EDC-FBD0FF49A030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E51D2889-BE55-F934-E839-E1FAC0663B99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D3B14BE1-06F0-EB00-01D7-153F7AEA99D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0CFCE47A-ABE3-1131-98DD-8F546888AB9A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E25F72B5-2029-7C5E-D087-589982971E94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88D74678-AF5F-F49B-D5FC-3B29D243E770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BAA1A292-E3CF-C1BB-1DC1-30C4B2965087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E362D0C6-454B-D561-1D91-7BCB6F0B4171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9990C00F-C69A-03FE-CA7B-9CA456BA66C9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FDA60CC3-7346-2A2A-523A-F65E7335B328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C57FBBE7-EB7B-BDDF-8DC2-EABB7FF0DF92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89714B50-1749-E7F0-DA63-42DFD3F5C8B4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ED76C317-C35B-960A-839B-EEC5F97C7DCE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2EEA7ED3-1307-3B15-D623-96CFDAA28279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D975F255-CFC1-A5B8-2BC7-EAF657EE065F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C0B7DB16-958F-56F8-B7B7-913922E8B83D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94DFC82D-6379-275C-C0FC-F68237012DA5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A527FF26-83EC-5D66-C5AD-914477BD4FF4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052043B6-B495-2099-FE1C-650C9F3DBF07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78C2E593-5148-38C8-CCC9-AAF340217E2A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CECA8552-060D-0742-F916-F5A64C2F44DA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40590558-E1F5-213A-D8DB-43D9915B5292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E46C70AB-3673-12CE-60EE-1640DC9175F5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D1E5BBFA-E9BF-A981-FCB0-A50CAA29E538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E916D133-11AA-F2CA-EDDD-856BC3BB5324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91EC8B2F-3285-1542-43C4-26DF7A704D34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3B3BF0B7-5CAA-0425-94BF-32E17A9ED601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F6ACBB74-13A2-E431-85DE-350F27CB93DC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A99C1ED2-D428-291A-6E47-14907B1F9925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A89E2686-1FBB-4B31-904B-43AFB16CA370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6BE5D8D6-0A46-2438-8AF5-8040AB12C4FB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7DAA5D39-C5A4-3FFF-1B6A-D45FA330A049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0B176E07-C043-1F4F-BB6C-4CBDBDF87491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3D50D765-9D4D-00FE-24A6-627EC1AF7648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EB4679F2-6C7E-A7AA-17A9-3A2C44F15333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33D19CA9-0B9D-12F9-9B5F-E2574D7EFA1E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6348DA00-0F49-1369-81AB-4D8B2B27B2BE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3A3F8F80-7FAD-A09B-E24C-93144101E29A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B5C815A6-FFAB-A8C1-8876-4A2DBCB5B84C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1B9A58F9-BDB8-A7B9-E07F-ECDD934B3FA0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414FC323-289D-BC39-461E-E7B29B34E2D1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6AF6C55A-81B6-D602-32F3-2DDD928FED39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8F1F4AE6-DFDF-2CA7-034B-0C1D30C2CD44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70C7CB57-C983-83EB-DEDB-2E8CFFAE6DAD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E13E40CF-8AE1-9A50-A341-F05AE7A88BF3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7CBC96D7-0DC9-52F2-586A-F7612C248736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22662DD8-D660-D685-F022-0F02EAD53C26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F684B83D-BB03-2C82-6E26-5E66B55462A8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4FC22151-4BE7-704C-BD92-CEB89D435A08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6057F480-0449-6213-573D-40BAABC324BF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7E0E454F-A33C-A033-06A7-754487F158BA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4887D8A4-0332-7382-6F97-EAF06B8370B7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43C23BA0-321A-7D9A-EA5E-C34CBABAEF4B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30CACC3A-CDC6-9B8E-6AF3-C29F6B99EE59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C0099730-EE49-B71A-804C-5B02EC14EBE9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9178349C-862F-0454-4C5F-427902DB091C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13226536-978C-ACF5-8C70-27D710818C8D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B267175-0C74-3A99-2411-3F76E4EDF533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Dataset Overview:  </a:t>
            </a:r>
            <a:endParaRPr lang="en-IN" sz="36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63E969-25CE-FA15-47E4-601548EE7A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94118-8429-91EF-FDF0-38CC22444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24F1C5-466F-E053-4B59-7E51E9EE745A}"/>
              </a:ext>
            </a:extLst>
          </p:cNvPr>
          <p:cNvSpPr txBox="1"/>
          <p:nvPr/>
        </p:nvSpPr>
        <p:spPr>
          <a:xfrm>
            <a:off x="184630" y="1112784"/>
            <a:ext cx="111171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expenditure datasets (social sector data)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Timeframe: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2016–2022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Indian states and union territories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Variables: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State/Region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Year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Sector (Health, Education, Rural Development, etc.)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Total Expenditure</a:t>
            </a:r>
          </a:p>
        </p:txBody>
      </p:sp>
    </p:spTree>
    <p:extLst>
      <p:ext uri="{BB962C8B-B14F-4D97-AF65-F5344CB8AC3E}">
        <p14:creationId xmlns:p14="http://schemas.microsoft.com/office/powerpoint/2010/main" val="541061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42F36-38D5-2950-0613-14A7F905C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E08FA09B-03FA-2887-90F9-F13242020FE1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84AD417-15FF-CDF9-538D-59CD4116BC1B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B79B9088-E8F2-F8A3-F1E4-54B2C38B0EDC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CF424AF0-1C8A-D235-8167-1DE0D5635A60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2846D455-E6DE-6D16-F430-0EF52110C6DF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74C4A0DB-FB57-C165-9C04-528D7E048C4A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A0E6BDAA-DE89-7ABD-3A73-0B997C6320D9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9F5A28C7-595F-5D9C-750C-C13A61C0D6AB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24E05E98-CE1D-8169-E07B-553C82FF6D49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51D2A50F-ED49-1C81-6C97-8428EA09D626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D8B9CBBF-E254-4399-940E-8345AFCBCBF2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F9ECD6DD-A143-C05F-5321-79D7EF1184A1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8269641D-91B8-69D3-7B30-6FF9B43C0E22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A42F6EF1-90E3-6261-611A-55B6D27F9995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18DA93C1-A533-8678-54A6-3BE2A3B94268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1FBD7269-504F-5C3C-3A13-02F3A4C937CE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274A1755-192A-B851-A605-2A9B76FA2CF3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5490AA95-968B-9023-3EFD-53DA0DED953D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354E4447-A9CF-C11B-2308-C80A2B2F5737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68DE44B2-C6C4-602C-63F0-980D73846DBA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98CAB4A1-1A07-87B4-DCF7-2504884D8A7C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11DEE224-FCBF-04E1-C8A6-D129038A4D34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6F6CB9B5-DEA4-1C6D-0FB7-3BC3C7505F1E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7DDD41F7-DFD3-B665-EF57-A9111E3EF541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A8A1BBDA-D9C3-A8A1-303A-27CA2E2DD975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931A8752-5C71-CF18-EBB4-ABF4089F27CC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AF04843B-6F10-0E68-4B59-69DBD7123233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C4401A36-599C-EEB6-76FD-61323D42D9AC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87C0D64E-B70D-1A33-5C17-57EA28475BA1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BBFB6F25-4E5E-14C2-CBFA-27DF3053F63B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57BEE656-D2FF-96CE-D894-8CBC421FE658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06985EF3-676B-C454-BE72-41BE9E70BE98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D3A67E4A-5B9C-098F-5A93-69B8B1D9B25F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B5D2D5AD-A0F9-D762-342F-F2D6E556556B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AB38966B-E85D-82B8-FD44-0302F5C8BB55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A7D1414A-A849-63D1-3176-50E85DA92233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317057B6-EB49-C6E4-72D4-13DB092B806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A36CBB13-70AB-A243-1785-395253FC923B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89683BB-F7A5-A104-225E-F974043800E9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D1610BD0-1936-AF04-139C-D1887B08B33F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94043492-3D79-24AA-D22E-DCDB5315AEAC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00835546-71D1-0C73-0F95-05AFC62248DF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532E4F8D-D9FA-29C4-2988-CBC5F8027715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D3B5D796-339D-16AB-8BF9-C9CE508B9915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736833D8-E865-7E7C-4CE3-F37C833294A7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12A3EE2E-BFCC-B86B-8B56-2BAFB58B7108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4DC9A6F9-200F-F3E6-E630-4D4B9B860523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7E1A9B1C-5CEF-1258-98C5-21BA55A9A2AE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8A2116AA-4BF9-57BE-BF61-2B54B0D70863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D34B00FA-A9EF-D4CE-C284-0C175F026028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68685E71-AADD-D562-113D-056FB6AA96BC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510F9019-8DEA-FBEC-EEC2-97BFCCFAFF0D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D34DCF8D-1003-C242-0AAA-0A1EEA0F5C73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8323AEEE-C5C1-5578-C729-9FEB001D1C00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04DC42ED-FD24-136B-7F34-1BF4D59A3DF1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95AFFEF7-7278-1C83-75E5-A9331E63AEBC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BE23C7B4-FE51-CA02-7C23-50E5BB90221A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C7542CFC-3076-409A-3A36-2E8E42C44707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59DF2B7B-B0EA-C3EB-383B-A872293CE97E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1125B993-3F48-6E70-A535-61952B8FD074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7EF1BD51-13BE-87C9-666E-45B1292746DE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72620CA4-AE46-F43F-3FF1-9E6FF74BFD70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5DE934BE-B442-172F-1D26-793B49F8F91D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A1DC1D40-FD73-39CF-A7E9-A84AFEE97DE2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80D72317-E985-D95F-78B4-546073031085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444227C0-C9A7-D290-8E6B-1E2E6762F1B2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F33A2D42-F30E-977E-1A57-82C52D990197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97BC2E45-6C54-BFDF-F99D-944E785231C8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CBF7BDD2-1DF7-E450-A9A8-0ADCE702B7B9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A181C412-3C4A-77E4-2DB9-F59B7E54A0D9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286D4538-EB4D-0E0D-37AA-9E857D032016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BD003AA2-11A7-EF04-66BB-60BD5500171F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7B3F5E50-B0BF-CF1B-6F2D-E2FF2EFADE8A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51885252-EEBD-0881-DB19-86C18AA3BDBD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BF00422-3D9E-156E-47E5-4E6CF88CFC12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Exploratory Data Analysis:   </a:t>
            </a:r>
            <a:endParaRPr lang="en-IN" sz="36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2C8AB9-CA9E-0F90-8FD5-A17EF105E6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2DD6C-DF46-DC6C-5F7D-FDED8355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26DB6C-27E3-4CFB-33BF-C0C19503197D}"/>
              </a:ext>
            </a:extLst>
          </p:cNvPr>
          <p:cNvSpPr txBox="1"/>
          <p:nvPr/>
        </p:nvSpPr>
        <p:spPr>
          <a:xfrm>
            <a:off x="168130" y="810025"/>
            <a:ext cx="111171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State-wise expenditure visualized using bar and line plots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Yearly spending trends analyzed across multiple sectors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Correlation Heatmap revealed strong positive relationships among education, health, and rural development spending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Expenditure showed an increasing trend post-2019</a:t>
            </a:r>
          </a:p>
        </p:txBody>
      </p:sp>
      <p:pic>
        <p:nvPicPr>
          <p:cNvPr id="3" name="Picture 2" descr="visual_1.png">
            <a:extLst>
              <a:ext uri="{FF2B5EF4-FFF2-40B4-BE49-F238E27FC236}">
                <a16:creationId xmlns:a16="http://schemas.microsoft.com/office/drawing/2014/main" id="{866371AC-2B3B-00F7-142E-82BBC8DAF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099" y="2117918"/>
            <a:ext cx="9701259" cy="410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732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F5E76-AB70-7323-F051-F24B1051E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4ED18B9E-ABCF-73AB-0241-8BEDD4E7E7CF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65A6CF7-2943-EE5C-84B3-837391FF32B4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60E0ED1F-89AE-709D-709A-85769FB87578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1ED1F1F3-6D0C-733C-CCFC-448D69D725ED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48B5BB57-FE3C-291F-127C-94D720964ED8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7043E743-F543-4A80-BD3D-4A08AA69628D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F3E36B8A-AECB-018C-5B39-C60D11F9C123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E85FE383-AFB1-0E62-963E-AACAC24E06EF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894596B0-9DC6-9633-0924-BFAEA85C5803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4FD32D7A-89D6-A81B-68C2-52577CDE2352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4001A9F2-817E-D9A3-9958-6920324F5DFA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3D4FB22F-DFBD-C4C3-A11E-BD938B8B20C3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8D6DF0D9-2620-F39D-9D28-2F19A8BE44DE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B13890E8-3906-981C-FAA0-B0E627058FFA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EC5E9F8E-EEA4-5C0A-ABC6-AFC3E67EFBAF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D060C46E-5F2C-D06D-C9DC-23F9A7AFD05C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F469268E-8792-CBAB-9A48-B0F5462C62B6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D646949F-A901-162A-149A-9C58D8807BBE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19C8E8B5-14CC-0DBF-62F4-33AEA21FB6B6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41687EF6-6742-4314-C9F0-6D0E8393FEB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6AB61240-6FFB-A7D4-570F-6506459DF66E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8CEF71EB-4A3D-1D0F-00D8-00E9EF267BCA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D74C8C2C-725A-01E8-7A84-AA340AA8EEE3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0DC79DF0-BBB7-A79E-C688-0235AF8CAB0B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434E26A7-4336-5274-6120-864438EC06FC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0F500C7E-BE12-2434-C979-9ACC84BC2F65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4E1C57C8-CD50-603F-3CDC-83968CE423BB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5AEEAF22-1971-D71D-6306-9E07629F3EEE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A1406CBA-5A77-ED35-365D-F4D288352496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9320F0FE-1C2D-AE34-6BC0-9446CFA3339A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05F91D73-3039-4E9C-505F-86C029D3ABAA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F500230F-1BD8-3630-3D94-F6D62D9C1EFB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38BFD506-EE7D-A1FD-E596-495FAD012C45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5599528E-790C-D4CF-8C3B-A913A931CFFA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3EF66012-3CD1-AAF1-24A8-D6F50A6E6570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4C149115-A9FB-6188-C97B-040C0F854BD7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0C90B017-1DEF-C2CC-5BA9-1C2A3F71A939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E7D03EA3-10EC-551F-1A88-A548414C8705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B6868D4-8040-C4AC-64EF-B4E28758CE15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EDA85738-5EF5-E17C-405A-B1F4DBF0E3D5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07CD346F-C450-4872-2209-3D329958ABAB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B359F96E-92E1-E1C2-2A9B-8CB9214FFE6E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F508A42B-27FB-85E1-F644-51D48D9442B0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0C198E7F-EA95-C52E-FA79-FE03DC7A038B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A2F57EEC-EB23-F5AC-1231-B78D39B5151E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891DFE1D-4A89-394E-B5EC-0F3B73AA2B94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0232C087-867D-0284-7CA6-0D4EB58BD16E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BEE61F77-91AB-D01C-503B-9193463937E9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BA9C7D63-E1B8-0411-BAF9-208406F5FBDF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DE793AB5-DC50-B968-1257-AF32224E8511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A4F863E4-23A5-731F-D282-EEF2E6FD26EA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83DD8334-3930-D816-4C62-CB7DF9F2A156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FADDB1B7-4722-C347-0D6A-66F283FDF93F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50C4DFCC-2BAA-48F9-88E4-368573B27FCD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26FB6598-B9EC-0708-469F-C14317D11774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3AE28C15-6FEA-FDE8-806A-508D11AACE1D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5EAE1D3A-624F-F58E-F9F7-04E0BC59B4C5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64E63532-0870-93E3-E1DE-E28EA50C7E39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4A693B99-F4E8-6910-89E9-B736E5BB17ED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C694ADE6-34F0-9B7E-E7FE-B7B5F3C9A92F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829FBA06-F5DD-BCB6-08D7-201574446D6F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883C4D9C-B9BE-16BD-EA40-B331C590E7D1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1EA9DD12-F39A-6E58-0E4C-EBAC116CD3C1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80F37BB6-3EA8-9CBB-CD1A-47BF25919D16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D43F88A0-A448-606B-FAF0-70383CC1661D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7DC32405-D678-A594-DCF7-C0930087F0A6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0115DAC7-C7B2-1012-56CB-80A0FDFF18C4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F854BCE1-69AA-B7E7-5123-2E83CCD92981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69D70647-7C86-0A28-901C-92FF68403848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5E717E46-BF42-694B-ABF0-555E8E878B75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A923C9BE-3692-EE95-BCEE-29E3E28B027E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3B7D5C4D-F50B-929D-968E-08BCC951F525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406D067D-0F7A-2E17-B008-090F23AC82B7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FD73842C-F7FE-9924-ED70-FE0B8BE2BE8E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B622BA0-655C-B0ED-E6C1-70167DACBCC4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Visualization Highlights:  </a:t>
            </a:r>
            <a:endParaRPr lang="en-IN" sz="36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FD6376-B476-75DB-CD00-C0C1E429A1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6828DF-9BA0-6CF4-7C79-35F6ECE29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BBD9B8-1972-DD35-D928-C5C6BA4BFFE9}"/>
              </a:ext>
            </a:extLst>
          </p:cNvPr>
          <p:cNvSpPr txBox="1"/>
          <p:nvPr/>
        </p:nvSpPr>
        <p:spPr>
          <a:xfrm>
            <a:off x="170696" y="755293"/>
            <a:ext cx="111171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Heatmap: Inter-sector relationships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Trend Analysis: Year-over-year spending rise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Sectoral Comparison: Education and Health dominate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Regression Output Plot: Predicted vs. Actual alignment shows stability</a:t>
            </a:r>
          </a:p>
        </p:txBody>
      </p:sp>
      <p:pic>
        <p:nvPicPr>
          <p:cNvPr id="3" name="Picture 2" descr="visual_3.png">
            <a:extLst>
              <a:ext uri="{FF2B5EF4-FFF2-40B4-BE49-F238E27FC236}">
                <a16:creationId xmlns:a16="http://schemas.microsoft.com/office/drawing/2014/main" id="{472232CD-60D5-A24D-3E0E-FA8D7C121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055" y="2164930"/>
            <a:ext cx="8865437" cy="415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398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2BCE3-4A58-EB7A-2DC3-DB26A38A9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BFB4C025-C627-A21D-70D8-739E63DCC5A7}"/>
              </a:ext>
            </a:extLst>
          </p:cNvPr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66084FB-CFEF-E962-83EA-27964AE72267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E4CFC059-2B7F-CEA2-7ED0-A16A25290DA8}"/>
                </a:ext>
              </a:extLst>
            </p:cNvPr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  <a:grpFill/>
          </p:grpSpPr>
          <p:sp>
            <p:nvSpPr>
              <p:cNvPr id="89" name="Freeform: Shape 4">
                <a:extLst>
                  <a:ext uri="{FF2B5EF4-FFF2-40B4-BE49-F238E27FC236}">
                    <a16:creationId xmlns:a16="http://schemas.microsoft.com/office/drawing/2014/main" id="{B7AF2354-FC46-E5A2-FA31-062F91B5D35A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Freeform: Shape 5">
                <a:extLst>
                  <a:ext uri="{FF2B5EF4-FFF2-40B4-BE49-F238E27FC236}">
                    <a16:creationId xmlns:a16="http://schemas.microsoft.com/office/drawing/2014/main" id="{CD7C94ED-7CFC-EAA4-5BF2-92EB746591B8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Freeform: Shape 6">
                <a:extLst>
                  <a:ext uri="{FF2B5EF4-FFF2-40B4-BE49-F238E27FC236}">
                    <a16:creationId xmlns:a16="http://schemas.microsoft.com/office/drawing/2014/main" id="{F4640602-E647-3C62-66EE-36910535B874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Freeform: Shape 7">
                <a:extLst>
                  <a:ext uri="{FF2B5EF4-FFF2-40B4-BE49-F238E27FC236}">
                    <a16:creationId xmlns:a16="http://schemas.microsoft.com/office/drawing/2014/main" id="{1AB4E95A-738C-BDD4-5B93-CBC60D8D16B3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Freeform: Shape 8">
                <a:extLst>
                  <a:ext uri="{FF2B5EF4-FFF2-40B4-BE49-F238E27FC236}">
                    <a16:creationId xmlns:a16="http://schemas.microsoft.com/office/drawing/2014/main" id="{C24A92C8-65E1-FBD4-99F7-2110F211AE03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Freeform: Shape 9">
                <a:extLst>
                  <a:ext uri="{FF2B5EF4-FFF2-40B4-BE49-F238E27FC236}">
                    <a16:creationId xmlns:a16="http://schemas.microsoft.com/office/drawing/2014/main" id="{DE3D1054-38CD-A381-4834-9AADA0AE9A71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Freeform: Shape 10">
                <a:extLst>
                  <a:ext uri="{FF2B5EF4-FFF2-40B4-BE49-F238E27FC236}">
                    <a16:creationId xmlns:a16="http://schemas.microsoft.com/office/drawing/2014/main" id="{AD76F62C-64BC-187E-EBF0-EA9A8A9CBB25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Freeform: Shape 11">
                <a:extLst>
                  <a:ext uri="{FF2B5EF4-FFF2-40B4-BE49-F238E27FC236}">
                    <a16:creationId xmlns:a16="http://schemas.microsoft.com/office/drawing/2014/main" id="{F33EE937-7758-AC5C-A6A0-343CFCE9E98C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Freeform: Shape 12">
                <a:extLst>
                  <a:ext uri="{FF2B5EF4-FFF2-40B4-BE49-F238E27FC236}">
                    <a16:creationId xmlns:a16="http://schemas.microsoft.com/office/drawing/2014/main" id="{44A41ADF-31ED-C5CB-FD97-BCEB8A164CF3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8" name="Freeform: Shape 13">
                <a:extLst>
                  <a:ext uri="{FF2B5EF4-FFF2-40B4-BE49-F238E27FC236}">
                    <a16:creationId xmlns:a16="http://schemas.microsoft.com/office/drawing/2014/main" id="{5AD33125-A190-4FFE-220D-6949DDE76C2F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99" name="Freeform: Shape 14">
                <a:extLst>
                  <a:ext uri="{FF2B5EF4-FFF2-40B4-BE49-F238E27FC236}">
                    <a16:creationId xmlns:a16="http://schemas.microsoft.com/office/drawing/2014/main" id="{D3540D5E-F9D7-6630-10B3-6E438F13055A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0" name="Freeform: Shape 15">
                <a:extLst>
                  <a:ext uri="{FF2B5EF4-FFF2-40B4-BE49-F238E27FC236}">
                    <a16:creationId xmlns:a16="http://schemas.microsoft.com/office/drawing/2014/main" id="{7166DAD6-4AFD-E738-8E1E-1D0F53B38571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Freeform: Shape 16">
                <a:extLst>
                  <a:ext uri="{FF2B5EF4-FFF2-40B4-BE49-F238E27FC236}">
                    <a16:creationId xmlns:a16="http://schemas.microsoft.com/office/drawing/2014/main" id="{0417877D-7461-2A4C-098E-C43B9353C7B9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Freeform: Shape 17">
                <a:extLst>
                  <a:ext uri="{FF2B5EF4-FFF2-40B4-BE49-F238E27FC236}">
                    <a16:creationId xmlns:a16="http://schemas.microsoft.com/office/drawing/2014/main" id="{8D75F133-E15F-07D5-FB99-E172E0806F5A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Freeform: Shape 18">
                <a:extLst>
                  <a:ext uri="{FF2B5EF4-FFF2-40B4-BE49-F238E27FC236}">
                    <a16:creationId xmlns:a16="http://schemas.microsoft.com/office/drawing/2014/main" id="{2373E293-16C3-8676-CCBA-86486AA3654D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Freeform: Shape 19">
                <a:extLst>
                  <a:ext uri="{FF2B5EF4-FFF2-40B4-BE49-F238E27FC236}">
                    <a16:creationId xmlns:a16="http://schemas.microsoft.com/office/drawing/2014/main" id="{2A49576F-E285-68F7-9454-AB10B1309ADE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Freeform: Shape 20">
                <a:extLst>
                  <a:ext uri="{FF2B5EF4-FFF2-40B4-BE49-F238E27FC236}">
                    <a16:creationId xmlns:a16="http://schemas.microsoft.com/office/drawing/2014/main" id="{48839E47-15F9-2608-4390-71582A28E4AF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Freeform: Shape 21">
                <a:extLst>
                  <a:ext uri="{FF2B5EF4-FFF2-40B4-BE49-F238E27FC236}">
                    <a16:creationId xmlns:a16="http://schemas.microsoft.com/office/drawing/2014/main" id="{0A68866E-6FF3-65D5-0AAA-3CA6CD29AA15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Freeform: Shape 22">
                <a:extLst>
                  <a:ext uri="{FF2B5EF4-FFF2-40B4-BE49-F238E27FC236}">
                    <a16:creationId xmlns:a16="http://schemas.microsoft.com/office/drawing/2014/main" id="{6794EA53-1FB9-42AC-6B78-98AD1D0E8264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Freeform: Shape 23">
                <a:extLst>
                  <a:ext uri="{FF2B5EF4-FFF2-40B4-BE49-F238E27FC236}">
                    <a16:creationId xmlns:a16="http://schemas.microsoft.com/office/drawing/2014/main" id="{D9385A2F-0E9E-A64E-2663-5A75E5BFF560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09" name="Freeform: Shape 24">
                <a:extLst>
                  <a:ext uri="{FF2B5EF4-FFF2-40B4-BE49-F238E27FC236}">
                    <a16:creationId xmlns:a16="http://schemas.microsoft.com/office/drawing/2014/main" id="{C25988DC-07A7-6778-9FA1-B462FFF1FCC0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0" name="Freeform: Shape 25">
                <a:extLst>
                  <a:ext uri="{FF2B5EF4-FFF2-40B4-BE49-F238E27FC236}">
                    <a16:creationId xmlns:a16="http://schemas.microsoft.com/office/drawing/2014/main" id="{5B8CB91C-3B23-6BF3-0341-E0D2AA37A3CB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1" name="Freeform: Shape 26">
                <a:extLst>
                  <a:ext uri="{FF2B5EF4-FFF2-40B4-BE49-F238E27FC236}">
                    <a16:creationId xmlns:a16="http://schemas.microsoft.com/office/drawing/2014/main" id="{5BE0C071-CD85-20A0-14D5-D3CF728BEFEA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2" name="Freeform: Shape 27">
                <a:extLst>
                  <a:ext uri="{FF2B5EF4-FFF2-40B4-BE49-F238E27FC236}">
                    <a16:creationId xmlns:a16="http://schemas.microsoft.com/office/drawing/2014/main" id="{37EF684B-4C94-8429-8DB2-51B1829376EB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3" name="Freeform: Shape 28">
                <a:extLst>
                  <a:ext uri="{FF2B5EF4-FFF2-40B4-BE49-F238E27FC236}">
                    <a16:creationId xmlns:a16="http://schemas.microsoft.com/office/drawing/2014/main" id="{EFCF67BC-8961-B4DD-4802-ADED077468E0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4" name="Freeform: Shape 29">
                <a:extLst>
                  <a:ext uri="{FF2B5EF4-FFF2-40B4-BE49-F238E27FC236}">
                    <a16:creationId xmlns:a16="http://schemas.microsoft.com/office/drawing/2014/main" id="{166AEE2F-AFBB-7962-DFD0-7D8982D19D42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5" name="Freeform: Shape 30">
                <a:extLst>
                  <a:ext uri="{FF2B5EF4-FFF2-40B4-BE49-F238E27FC236}">
                    <a16:creationId xmlns:a16="http://schemas.microsoft.com/office/drawing/2014/main" id="{688420E6-4D96-DDE4-F0D0-DAFC41FF4C29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32AFCB25-2D3C-23DB-BB65-928144B7C355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7441567F-CD67-18C1-40A5-BD3F2025E86A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99D7B942-F2EE-F5FC-C2A9-FE446F4914FB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Freeform: Shape 34">
                <a:extLst>
                  <a:ext uri="{FF2B5EF4-FFF2-40B4-BE49-F238E27FC236}">
                    <a16:creationId xmlns:a16="http://schemas.microsoft.com/office/drawing/2014/main" id="{CCB5631F-4132-0234-DFA2-527D9C1F974C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0" name="Freeform: Shape 35">
                <a:extLst>
                  <a:ext uri="{FF2B5EF4-FFF2-40B4-BE49-F238E27FC236}">
                    <a16:creationId xmlns:a16="http://schemas.microsoft.com/office/drawing/2014/main" id="{F426EE39-CFC6-A654-FA8D-E8CDDCEBCA85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1" name="Freeform: Shape 36">
                <a:extLst>
                  <a:ext uri="{FF2B5EF4-FFF2-40B4-BE49-F238E27FC236}">
                    <a16:creationId xmlns:a16="http://schemas.microsoft.com/office/drawing/2014/main" id="{F6A85186-1D97-07CE-6204-C0A599A8AF1A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2" name="Freeform: Shape 37">
                <a:extLst>
                  <a:ext uri="{FF2B5EF4-FFF2-40B4-BE49-F238E27FC236}">
                    <a16:creationId xmlns:a16="http://schemas.microsoft.com/office/drawing/2014/main" id="{51D40F38-1F95-D6F4-99AB-8826B267D5B8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  <p:sp>
            <p:nvSpPr>
              <p:cNvPr id="123" name="Freeform: Shape 38">
                <a:extLst>
                  <a:ext uri="{FF2B5EF4-FFF2-40B4-BE49-F238E27FC236}">
                    <a16:creationId xmlns:a16="http://schemas.microsoft.com/office/drawing/2014/main" id="{2EB41267-24C9-F0CF-FEFA-BC0E9858FEDD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3A8DCA0-AFBF-0475-D17E-76E5233EEF61}"/>
              </a:ext>
            </a:extLst>
          </p:cNvPr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25" name="Freeform: Shape 4">
              <a:extLst>
                <a:ext uri="{FF2B5EF4-FFF2-40B4-BE49-F238E27FC236}">
                  <a16:creationId xmlns:a16="http://schemas.microsoft.com/office/drawing/2014/main" id="{278CF2D1-C7AE-BBFB-4677-E81A7E86F799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26" name="Freeform: Shape 5">
              <a:extLst>
                <a:ext uri="{FF2B5EF4-FFF2-40B4-BE49-F238E27FC236}">
                  <a16:creationId xmlns:a16="http://schemas.microsoft.com/office/drawing/2014/main" id="{E74FD780-B80F-AC5E-537B-4A690C73F7BD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27" name="Freeform: Shape 6">
              <a:extLst>
                <a:ext uri="{FF2B5EF4-FFF2-40B4-BE49-F238E27FC236}">
                  <a16:creationId xmlns:a16="http://schemas.microsoft.com/office/drawing/2014/main" id="{F42ABAD4-730E-0A80-405D-04A994E9E141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28" name="Freeform: Shape 7">
              <a:extLst>
                <a:ext uri="{FF2B5EF4-FFF2-40B4-BE49-F238E27FC236}">
                  <a16:creationId xmlns:a16="http://schemas.microsoft.com/office/drawing/2014/main" id="{DEDF94A8-B9E3-E0C1-6D24-13C1FA3898C1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29" name="Freeform: Shape 8">
              <a:extLst>
                <a:ext uri="{FF2B5EF4-FFF2-40B4-BE49-F238E27FC236}">
                  <a16:creationId xmlns:a16="http://schemas.microsoft.com/office/drawing/2014/main" id="{1D569D71-383C-49FB-A734-745662D1ABAC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0" name="Freeform: Shape 9">
              <a:extLst>
                <a:ext uri="{FF2B5EF4-FFF2-40B4-BE49-F238E27FC236}">
                  <a16:creationId xmlns:a16="http://schemas.microsoft.com/office/drawing/2014/main" id="{CF3FAC98-C211-A091-C030-4089CE90C544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1" name="Freeform: Shape 10">
              <a:extLst>
                <a:ext uri="{FF2B5EF4-FFF2-40B4-BE49-F238E27FC236}">
                  <a16:creationId xmlns:a16="http://schemas.microsoft.com/office/drawing/2014/main" id="{2A2EA0F5-D70A-DC39-C8B6-74A5C91BEBA0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2" name="Freeform: Shape 11">
              <a:extLst>
                <a:ext uri="{FF2B5EF4-FFF2-40B4-BE49-F238E27FC236}">
                  <a16:creationId xmlns:a16="http://schemas.microsoft.com/office/drawing/2014/main" id="{5B46BACC-59BC-4482-A1CC-3045AE106B9B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3" name="Freeform: Shape 12">
              <a:extLst>
                <a:ext uri="{FF2B5EF4-FFF2-40B4-BE49-F238E27FC236}">
                  <a16:creationId xmlns:a16="http://schemas.microsoft.com/office/drawing/2014/main" id="{3EB08E77-C28A-F2EB-7F57-AA3016346DE9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4" name="Freeform: Shape 13">
              <a:extLst>
                <a:ext uri="{FF2B5EF4-FFF2-40B4-BE49-F238E27FC236}">
                  <a16:creationId xmlns:a16="http://schemas.microsoft.com/office/drawing/2014/main" id="{BE538A61-7BEF-BA19-4D6B-E5D78234B9BF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5" name="Freeform: Shape 14">
              <a:extLst>
                <a:ext uri="{FF2B5EF4-FFF2-40B4-BE49-F238E27FC236}">
                  <a16:creationId xmlns:a16="http://schemas.microsoft.com/office/drawing/2014/main" id="{03B8B2B9-7CA1-1B3B-CD4F-D97A0FA6548A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6" name="Freeform: Shape 15">
              <a:extLst>
                <a:ext uri="{FF2B5EF4-FFF2-40B4-BE49-F238E27FC236}">
                  <a16:creationId xmlns:a16="http://schemas.microsoft.com/office/drawing/2014/main" id="{FAF3A14C-D376-B3E0-257D-F3FC4855154E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7" name="Freeform: Shape 16">
              <a:extLst>
                <a:ext uri="{FF2B5EF4-FFF2-40B4-BE49-F238E27FC236}">
                  <a16:creationId xmlns:a16="http://schemas.microsoft.com/office/drawing/2014/main" id="{5CC29F91-0CF6-35B5-E962-E69162152510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8" name="Freeform: Shape 17">
              <a:extLst>
                <a:ext uri="{FF2B5EF4-FFF2-40B4-BE49-F238E27FC236}">
                  <a16:creationId xmlns:a16="http://schemas.microsoft.com/office/drawing/2014/main" id="{1669FB66-008E-3A9D-F341-EA8276FF9F5E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39" name="Freeform: Shape 18">
              <a:extLst>
                <a:ext uri="{FF2B5EF4-FFF2-40B4-BE49-F238E27FC236}">
                  <a16:creationId xmlns:a16="http://schemas.microsoft.com/office/drawing/2014/main" id="{6B16E0BD-9CEB-822F-D6C9-797E5DCA39EC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0" name="Freeform: Shape 19">
              <a:extLst>
                <a:ext uri="{FF2B5EF4-FFF2-40B4-BE49-F238E27FC236}">
                  <a16:creationId xmlns:a16="http://schemas.microsoft.com/office/drawing/2014/main" id="{C4279EC9-6872-AC9E-2C9C-7C52D07EBD85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1" name="Freeform: Shape 20">
              <a:extLst>
                <a:ext uri="{FF2B5EF4-FFF2-40B4-BE49-F238E27FC236}">
                  <a16:creationId xmlns:a16="http://schemas.microsoft.com/office/drawing/2014/main" id="{6DB162D0-B716-24A2-F27D-4C6EF6F6824A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2" name="Freeform: Shape 21">
              <a:extLst>
                <a:ext uri="{FF2B5EF4-FFF2-40B4-BE49-F238E27FC236}">
                  <a16:creationId xmlns:a16="http://schemas.microsoft.com/office/drawing/2014/main" id="{D8B9C2BD-8E70-1376-C84B-DEB72C14E820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3" name="Freeform: Shape 22">
              <a:extLst>
                <a:ext uri="{FF2B5EF4-FFF2-40B4-BE49-F238E27FC236}">
                  <a16:creationId xmlns:a16="http://schemas.microsoft.com/office/drawing/2014/main" id="{CD5A9E24-DA3F-05AE-8447-36584FD3ABA2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4" name="Freeform: Shape 23">
              <a:extLst>
                <a:ext uri="{FF2B5EF4-FFF2-40B4-BE49-F238E27FC236}">
                  <a16:creationId xmlns:a16="http://schemas.microsoft.com/office/drawing/2014/main" id="{8E33D895-083C-BAD0-EFBC-5411A0B2842A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5" name="Freeform: Shape 24">
              <a:extLst>
                <a:ext uri="{FF2B5EF4-FFF2-40B4-BE49-F238E27FC236}">
                  <a16:creationId xmlns:a16="http://schemas.microsoft.com/office/drawing/2014/main" id="{2702B581-C83F-1C4C-3DB9-1DDF9AACA237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6" name="Freeform: Shape 25">
              <a:extLst>
                <a:ext uri="{FF2B5EF4-FFF2-40B4-BE49-F238E27FC236}">
                  <a16:creationId xmlns:a16="http://schemas.microsoft.com/office/drawing/2014/main" id="{9145666E-CCD8-CCF3-259C-7A4A2A654D65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7" name="Freeform: Shape 26">
              <a:extLst>
                <a:ext uri="{FF2B5EF4-FFF2-40B4-BE49-F238E27FC236}">
                  <a16:creationId xmlns:a16="http://schemas.microsoft.com/office/drawing/2014/main" id="{20424C78-C938-99E3-6EC7-5AD91DAEF15F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8" name="Freeform: Shape 27">
              <a:extLst>
                <a:ext uri="{FF2B5EF4-FFF2-40B4-BE49-F238E27FC236}">
                  <a16:creationId xmlns:a16="http://schemas.microsoft.com/office/drawing/2014/main" id="{14583262-5B06-E00C-AC9A-610E9047A416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49" name="Freeform: Shape 28">
              <a:extLst>
                <a:ext uri="{FF2B5EF4-FFF2-40B4-BE49-F238E27FC236}">
                  <a16:creationId xmlns:a16="http://schemas.microsoft.com/office/drawing/2014/main" id="{E9096F10-A5A5-7133-9C66-ACCD5B7D824E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0" name="Freeform: Shape 29">
              <a:extLst>
                <a:ext uri="{FF2B5EF4-FFF2-40B4-BE49-F238E27FC236}">
                  <a16:creationId xmlns:a16="http://schemas.microsoft.com/office/drawing/2014/main" id="{ACE3FF97-3A7D-BA9E-8572-EB8D7B0F3F5B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1" name="Freeform: Shape 30">
              <a:extLst>
                <a:ext uri="{FF2B5EF4-FFF2-40B4-BE49-F238E27FC236}">
                  <a16:creationId xmlns:a16="http://schemas.microsoft.com/office/drawing/2014/main" id="{ABF46F16-B74D-19D6-D015-E8D0BFECE2F8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2" name="Freeform: Shape 31">
              <a:extLst>
                <a:ext uri="{FF2B5EF4-FFF2-40B4-BE49-F238E27FC236}">
                  <a16:creationId xmlns:a16="http://schemas.microsoft.com/office/drawing/2014/main" id="{4609998C-5FA7-764F-E943-7636AB5BAB4E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3" name="Freeform: Shape 32">
              <a:extLst>
                <a:ext uri="{FF2B5EF4-FFF2-40B4-BE49-F238E27FC236}">
                  <a16:creationId xmlns:a16="http://schemas.microsoft.com/office/drawing/2014/main" id="{F2B75337-93C0-2D7A-3CDC-477F31DA8A15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4" name="Freeform: Shape 33">
              <a:extLst>
                <a:ext uri="{FF2B5EF4-FFF2-40B4-BE49-F238E27FC236}">
                  <a16:creationId xmlns:a16="http://schemas.microsoft.com/office/drawing/2014/main" id="{F63E035C-1FB3-61ED-AF26-FEAE193B7765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5" name="Freeform: Shape 34">
              <a:extLst>
                <a:ext uri="{FF2B5EF4-FFF2-40B4-BE49-F238E27FC236}">
                  <a16:creationId xmlns:a16="http://schemas.microsoft.com/office/drawing/2014/main" id="{70B4AED9-8E38-500E-897A-01763284F55B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6" name="Freeform: Shape 35">
              <a:extLst>
                <a:ext uri="{FF2B5EF4-FFF2-40B4-BE49-F238E27FC236}">
                  <a16:creationId xmlns:a16="http://schemas.microsoft.com/office/drawing/2014/main" id="{943CAE12-D672-7E05-FEBB-205D0E177FF8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7" name="Freeform: Shape 36">
              <a:extLst>
                <a:ext uri="{FF2B5EF4-FFF2-40B4-BE49-F238E27FC236}">
                  <a16:creationId xmlns:a16="http://schemas.microsoft.com/office/drawing/2014/main" id="{718DD8F1-765E-CD3E-018A-475B251302D8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8" name="Freeform: Shape 37">
              <a:extLst>
                <a:ext uri="{FF2B5EF4-FFF2-40B4-BE49-F238E27FC236}">
                  <a16:creationId xmlns:a16="http://schemas.microsoft.com/office/drawing/2014/main" id="{9031EB5F-63F1-BDE6-C616-35984F2F472F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  <p:sp>
          <p:nvSpPr>
            <p:cNvPr id="159" name="Freeform: Shape 38">
              <a:extLst>
                <a:ext uri="{FF2B5EF4-FFF2-40B4-BE49-F238E27FC236}">
                  <a16:creationId xmlns:a16="http://schemas.microsoft.com/office/drawing/2014/main" id="{2952348E-EDEA-CCB9-F41C-1F85B3441890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05F1462-E4B9-F7C2-6C72-43B42B0ACBC0}"/>
              </a:ext>
            </a:extLst>
          </p:cNvPr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Conclusion and Future Scope:  </a:t>
            </a:r>
            <a:endParaRPr lang="en-IN" sz="36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1F76E8-17C7-A814-8BB2-6E88F6A7C7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" y="34941"/>
            <a:ext cx="1343005" cy="5750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2DBAF-E8F0-4D5D-F52F-11726E1A4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635C9-4A98-4745-BD96-9D0E32025E69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953CFE-C981-FB8C-B473-A294A4BC9E38}"/>
              </a:ext>
            </a:extLst>
          </p:cNvPr>
          <p:cNvSpPr txBox="1"/>
          <p:nvPr/>
        </p:nvSpPr>
        <p:spPr>
          <a:xfrm>
            <a:off x="166542" y="877744"/>
            <a:ext cx="111171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sector expenditure in India is on a steady upward trend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State-wise differences highlight the need for targeted policy design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 advanced ML models (Random Forest,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3" name="Picture 2" descr="visual_4.png">
            <a:extLst>
              <a:ext uri="{FF2B5EF4-FFF2-40B4-BE49-F238E27FC236}">
                <a16:creationId xmlns:a16="http://schemas.microsoft.com/office/drawing/2014/main" id="{28EAF915-F35D-2EDF-FA8F-C2686ED38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312" y="2078073"/>
            <a:ext cx="7315200" cy="426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753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281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Bharti Ingle</dc:creator>
  <cp:lastModifiedBy>Bharti Ingle</cp:lastModifiedBy>
  <cp:revision>1</cp:revision>
  <dcterms:created xsi:type="dcterms:W3CDTF">2025-11-03T10:07:03Z</dcterms:created>
  <dcterms:modified xsi:type="dcterms:W3CDTF">2025-11-03T10:24:40Z</dcterms:modified>
</cp:coreProperties>
</file>